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PAULISTA — UNIP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Paradigma do Kanban Semântico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operacional através do Mecanismo Kanban 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contextualização autônoma via LLMs e controle de acesso por TAGS (RLS)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45720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45720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45720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45720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Vinicius Vilela Rufini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Orientador(a): Prof(a). [Nome do Orientador]   •   São Paulo,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 - 18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Cognitivo nas operações multiturno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Semântico como evolução do paradigma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tecnológica e mecanismo de Scoping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349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no PostgreSQL — isolamento multilocatário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DES com replicação Monte Carlo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788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estatísticos validados (p &lt; 0,001)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886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3232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e trabalhos futuros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Kanban Tradicional já não basta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GARGALO COGNITIVO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invisível gasto pelo operador na busca por POPs, manuais e regras de negócio durante a execução do cartão.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56432"/>
            <a:ext cx="228600" cy="2286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alto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oculta enquanto o operador procura informação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096512"/>
            <a:ext cx="228600" cy="2286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SLA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4023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estourando o tempo contratado de 4 horas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736592"/>
            <a:ext cx="228600" cy="2286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baixo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4663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Escalonamentos repetidos para níveis hierárquicos superiores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376672"/>
            <a:ext cx="228600" cy="2286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20440" y="5303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onboarding longa, custo de capacitação alto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1691640"/>
            <a:ext cx="3931920" cy="4572000"/>
          </a:xfrm>
          <a:prstGeom prst="roundRect">
            <a:avLst>
              <a:gd name="adj" fmla="val 3488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2194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a 30%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7955280" y="3749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jornada do trabalhador do conhecimento é gasta apenas procurando informação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Feldman &amp; Sherman (IDC, 2004)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Hipótese Central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passivo → Kanban semântico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EEF2F8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TRADICIONAL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estático, passivo, descritivo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usuário SAI da tela para pesquisar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Manuais em planilhas e wikis dispersas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 de supervisor / mensageria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longo e custoso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segurança no nível da tarefa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1E2761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MECANISMO KANBAN 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como agente contextual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IA INJETA o checklist na própria interface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Conhecimento filtrado por TAGS temáticas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Resposta determinística em &lt; 1,5 s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instantâneo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Isolamento granular por RLS do 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 Pilha Tecnológica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BaaS + LLM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647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CSS puro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FB4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791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Infraestrutura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Network + rewrites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0F18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935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BaaS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Auth + API)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8514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079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por company_id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4223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Generativa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(LLM)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0" y="1691640"/>
            <a:ext cx="4206240" cy="4480560"/>
          </a:xfrm>
          <a:prstGeom prst="roundRect">
            <a:avLst>
              <a:gd name="adj" fmla="val 3261"/>
            </a:avLst>
          </a:prstGeom>
          <a:solidFill>
            <a:srgbClr val="EEF2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DIFERENCIAIS TÉCNICOS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9828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média da resposta da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−87,5%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9828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consumo de tokens do LLM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4160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98280" y="4251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multilocatário via RLS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KB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98280" y="5166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filtro extra na aplicação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 (UML)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e funcionalidades centrais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uml1_casos_de_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91640"/>
            <a:ext cx="91440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Sequência — Motor Semântico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solicitação à prescrição em &lt; 1,5 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uml2_sequ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996696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Segurança: Row Level Security em produção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security_hardening.sql — aplicado no Supabase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7772400" cy="4389120"/>
          </a:xfrm>
          <a:prstGeom prst="roundRect">
            <a:avLst>
              <a:gd name="adj" fmla="val 2083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7406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Knowledge Base: isolamento estrito por empresa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knowledge_base ENABLE ROW LEVEL SECURITY;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"Knowledge base company isolation"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knowledge_base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ALL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company_id IN (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 company_id FROM profiles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WHERE email = auth.jwt()-&gt;&gt;'email'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pelo planejador do PostgreSQL ANTES do WHERE explícito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SELECT, INSERT, UPDATE e DELETE simultaneamente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romper o isolamento por falha lógica da aplicação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5029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impacto na ergonomia do código da camada de serviço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Computacional de Eventos Discretos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 DES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et al. (2010) — variáveis aleatórias uniformes condicionadas à complexidade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874520"/>
            <a:ext cx="822960" cy="82296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692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Calibração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ancorado em 15-30% reportado por Feldman &amp; Sherman (2004)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6916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1874520"/>
            <a:ext cx="822960" cy="8229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50976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Inferência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réplicas Monte Carlo, teste t pareado bilateral, df=29, α=0,001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1064240" cy="1463040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006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3108960" y="4800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execuções simuladas totais (30 réplicas × 100 cartões cada)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08960" y="5349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fixado em 42 — totalmente reprodutível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1 — Simulador Node.js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ao vivo do simulador_performance_tcc.js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terminal_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972800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2 — Monte Carlo Python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 estatística e teste t pareado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terminal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972800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Números-chave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± desvio-padrão sobre 30 réplicas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69164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Tradicional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69164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1691640"/>
            <a:ext cx="1645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1691640"/>
            <a:ext cx="15544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(df=29)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194560"/>
            <a:ext cx="20116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 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219456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194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 ± 2,4 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219456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194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± 0,1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2194560"/>
            <a:ext cx="164592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194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−92,6%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49840" y="2194560"/>
            <a:ext cx="15544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9718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971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Time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51760" y="297180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971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123,1 ± 5,3 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297180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971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91,0 ± 4,1 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297180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29718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−26,1%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149840" y="297180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2971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109,8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20116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749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Time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51760" y="374904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170,6 ± 7,4 min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77840" y="374904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94,5 ± 4,0 min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503920" y="3749040"/>
            <a:ext cx="164592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3749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−44,6%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149840" y="3749040"/>
            <a:ext cx="15544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" y="452628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526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Quebra SLA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651760" y="45262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577840" y="45262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503920" y="452628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45262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−100%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149840" y="452628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41280" y="4526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0080" y="5303520"/>
            <a:ext cx="20116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303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FCR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651760" y="530352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5303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53,4%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577840" y="5303520"/>
            <a:ext cx="29260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5303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95,3%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5303520"/>
            <a:ext cx="164592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5303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+41,9 p.p.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0149840" y="5303520"/>
            <a:ext cx="1554480" cy="777240"/>
          </a:xfrm>
          <a:prstGeom prst="rect">
            <a:avLst/>
          </a:prstGeom>
          <a:solidFill>
            <a:srgbClr val="EEF2F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41280" y="5303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40080" y="5989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3FB950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crítico para df=29, α=0,001 = 3,659  →  todos os t-stats acima implicam p &lt; 0,001 (rejeição forte de H₀)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Tempos Operacionais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erro = IC 95% (30 réplicas)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g1_tempos_operacion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589520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69164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TOTAL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−44,6%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859536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Cycle Time médio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360" y="4297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170,6 → 94,5 min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9536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114,7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Estabilidade entre réplicas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do Cycle Time nas 30 simulações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g7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858000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691640"/>
            <a:ext cx="4023360" cy="4572000"/>
          </a:xfrm>
          <a:prstGeom prst="roundRect">
            <a:avLst>
              <a:gd name="adj" fmla="val 3409"/>
            </a:avLst>
          </a:prstGeom>
          <a:solidFill>
            <a:srgbClr val="EEF2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isso importa?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28600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ausência de sobreposição entre as caixas é, por si só, evidência visual de significância estatística.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 réplica MAIS LENTA do Kanban IA é mais rápida que a réplica MAIS RÁPIDA do Kanban Tradicional.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sorte estatística: o ganho é estrutural.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e FCR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 que o cliente B2B realmente vê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g3_sla_pizz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91640"/>
            <a:ext cx="5943600" cy="3840480"/>
          </a:xfrm>
          <a:prstGeom prst="rect">
            <a:avLst/>
          </a:prstGeom>
        </p:spPr>
      </p:pic>
      <p:pic>
        <p:nvPicPr>
          <p:cNvPr id="8" name="Image 1" descr="C:\Users\vinic\Desktop\kabania\meuTcc\charts\g4_f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486400" cy="3840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Quebra de SLA: 28,3% → 0%   •   FCR: 53,4% → 95,3%   •   Latência IA: &lt; 1,5 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Eficiência Computacional &amp; ROI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Kanban IA é financeiramente viável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pic>
        <p:nvPicPr>
          <p:cNvPr id="7" name="Image 0" descr="C:\Users\vinic\Desktop\kabania\meuTcc\charts\g5_tok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91640"/>
            <a:ext cx="64008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0" y="1691640"/>
            <a:ext cx="4754880" cy="4023360"/>
          </a:xfrm>
          <a:prstGeom prst="roundRect">
            <a:avLst>
              <a:gd name="adj" fmla="val 3409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ANUAL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2194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R$ 1,5 mi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7132320" y="3383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economia direta para uma operação de 1.000 chamados/mês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0" y="5029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R$ 50/h • horas salvas Monte Carlo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585216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−87,5% no payload do LLM (12.000 → 1.500 tokens por requisição)  •  viabiliza swarming contínuo de IA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 &amp; Trabalhos Futuros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 que foi entregue e do que vem a seguir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" cy="457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✔ ENTREGUE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Arquitetura formal em UML (Casos de Uso, Sequência, DER)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Implementação completa em React + Supabase + Gemini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Políticas RLS em produção e plano adversarial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Simulador DES autoral em Node.js (Apêndice A)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Replicação Monte Carlo em Python (Apêndice B)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 t pareado, p &lt; 0,001 em todas as métricas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 Time: −44,6% comprovado estatisticamente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PRÓXIMOS PASSOS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Estudo de caso longitudinal em operação real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Distribuições lognormal/Weibull no Touch Time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Agentes de voz para operadores de campo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Aprendizado por reforço para sugestão de POPs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Testes adversariais de prompt injection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Métricas qualitativas: satisfação do operador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Auditoria de ROI em ambiente controlado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V. Rufini  •  UNIP - Ciência da Computação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Perguntas, observações e contribuições da banca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Semântico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438912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 Multilocatário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438912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0F183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389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Estatística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Vilela Rufini  •  vinicius@unip.br  •  TCC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- Defesa - Mecanismo Kanban IA</dc:title>
  <dc:subject>PptxGenJS Presentation</dc:subject>
  <dc:creator>Vinicius Vilela Rufini</dc:creator>
  <cp:lastModifiedBy>Vinicius Vilela Rufini</cp:lastModifiedBy>
  <cp:revision>1</cp:revision>
  <dcterms:created xsi:type="dcterms:W3CDTF">2026-05-14T00:08:33Z</dcterms:created>
  <dcterms:modified xsi:type="dcterms:W3CDTF">2026-05-14T00:08:33Z</dcterms:modified>
</cp:coreProperties>
</file>